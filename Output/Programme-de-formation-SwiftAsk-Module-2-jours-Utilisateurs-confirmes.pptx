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18933459"/>
  <p:notesSz cx="18933459" cy="14630400"/>
  <p:embeddedFontLst>
    <p:embeddedFont>
      <p:font typeface="Saira"/>
      <p:regular r:id="rId8"/>
    </p:embeddedFont>
    <p:embeddedFont>
      <p:font typeface="Saira"/>
      <p:regular r:id="rId9"/>
    </p:embeddedFont>
    <p:embeddedFont>
      <p:font typeface="Saira"/>
      <p:regular r:id="rId10"/>
    </p:embeddedFont>
    <p:embeddedFont>
      <p:font typeface="Saira"/>
      <p:regular r:id="rId11"/>
    </p:embeddedFont>
    <p:embeddedFont>
      <p:font typeface="Saira"/>
      <p:regular r:id="rId12"/>
    </p:embeddedFont>
    <p:embeddedFont>
      <p:font typeface="Saira"/>
      <p:regular r:id="rId13"/>
    </p:embeddedFont>
    <p:embeddedFont>
      <p:font typeface="Saira"/>
      <p:regular r:id="rId14"/>
    </p:embeddedFont>
    <p:embeddedFont>
      <p:font typeface="Saira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1"/>
            <a:ext cx="14630400" cy="189311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1"/>
            <a:ext cx="14630400" cy="18931197"/>
          </a:xfrm>
          <a:prstGeom prst="rect">
            <a:avLst/>
          </a:prstGeom>
          <a:solidFill>
            <a:srgbClr val="FFFFF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1"/>
            <a:ext cx="14630400" cy="18931197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71"/>
            <a:ext cx="14630400" cy="189311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0234" y="724052"/>
            <a:ext cx="12789932" cy="1314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Programme de formation SwiftAsk – Module 2 jours (Utilisateurs confirmés)</a:t>
            </a:r>
            <a:endParaRPr lang="en-US" sz="4100" dirty="0"/>
          </a:p>
        </p:txBody>
      </p:sp>
      <p:sp>
        <p:nvSpPr>
          <p:cNvPr id="5" name="Text 2"/>
          <p:cNvSpPr/>
          <p:nvPr/>
        </p:nvSpPr>
        <p:spPr>
          <a:xfrm>
            <a:off x="920234" y="2143705"/>
            <a:ext cx="12789932" cy="821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7752B3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Public visé </a:t>
            </a:r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Utilisateurs SwiftAsk expérimentés (&gt; 6 mois d'usage), équipe informatique.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920234" y="3070497"/>
            <a:ext cx="4344472" cy="492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7752B3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Objectifs pédagogiques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920234" y="3957764"/>
            <a:ext cx="12789932" cy="420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Revoir les principales fonctionnalités proposées par SwiftAsk.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20234" y="4470149"/>
            <a:ext cx="12789932" cy="420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Explorer des cas d'usage plus complexes liés aux activités métier.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20234" y="4982533"/>
            <a:ext cx="12789932" cy="420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Comprendre les niveaux d'agents (N1 → N3) à travers 6 agents types.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920234" y="5494917"/>
            <a:ext cx="12789932" cy="420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Développer des agents adaptés aux besoins internes de l'établissement.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920234" y="6309685"/>
            <a:ext cx="6295668" cy="492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7752B3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Programme pédagogique (2 jours)</a:t>
            </a:r>
            <a:endParaRPr lang="en-US" sz="3100" dirty="0"/>
          </a:p>
        </p:txBody>
      </p:sp>
      <p:sp>
        <p:nvSpPr>
          <p:cNvPr id="12" name="Shape 9"/>
          <p:cNvSpPr/>
          <p:nvPr/>
        </p:nvSpPr>
        <p:spPr>
          <a:xfrm>
            <a:off x="920234" y="7196953"/>
            <a:ext cx="6263521" cy="8079339"/>
          </a:xfrm>
          <a:prstGeom prst="roundRect">
            <a:avLst>
              <a:gd name="adj" fmla="val 1763"/>
            </a:avLst>
          </a:prstGeom>
          <a:solidFill>
            <a:srgbClr val="DFDDEE"/>
          </a:solidFill>
          <a:ln w="15240">
            <a:solidFill>
              <a:srgbClr val="C5C3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98364" y="7475050"/>
            <a:ext cx="5707261" cy="821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Jour 1 – Révision &amp; approfondissement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198364" y="8454461"/>
            <a:ext cx="5707261" cy="1261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Rappel des fonctionnalités clés de SwiftAsk (Chat, requêtes, usages pratiques).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198364" y="9807803"/>
            <a:ext cx="5707261" cy="1261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Présentation de cas d'usage avancés : automatisation, analyse, traitement documentaire.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1198364" y="11161146"/>
            <a:ext cx="5707261" cy="840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Présentation de </a:t>
            </a:r>
            <a:pPr algn="l" indent="0" marL="0">
              <a:lnSpc>
                <a:spcPts val="3300"/>
              </a:lnSpc>
              <a:buNone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6 agents types</a:t>
            </a:r>
            <a:pPr algn="l" indent="0" marL="0">
              <a:lnSpc>
                <a:spcPts val="3300"/>
              </a:lnSpc>
              <a:buNone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 illustrant les niveaux :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1198364" y="12159843"/>
            <a:ext cx="5707261" cy="840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N1 :</a:t>
            </a:r>
            <a:pPr algn="l" indent="0" marL="0">
              <a:lnSpc>
                <a:spcPts val="3300"/>
              </a:lnSpc>
              <a:buNone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 agents simples (assistance, reformulation, extraction).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1198364" y="13158540"/>
            <a:ext cx="5707261" cy="840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N2 :</a:t>
            </a:r>
            <a:pPr algn="l" indent="0" marL="0">
              <a:lnSpc>
                <a:spcPts val="3300"/>
              </a:lnSpc>
              <a:buNone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 agents avec instructions (analyse, structuration, génération).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1198364" y="14157237"/>
            <a:ext cx="5707261" cy="840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N3 :</a:t>
            </a:r>
            <a:pPr algn="l" indent="0" marL="0">
              <a:lnSpc>
                <a:spcPts val="3300"/>
              </a:lnSpc>
              <a:buNone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 agents avancés mobilisant logique, scénarios ou connaissances.</a:t>
            </a:r>
            <a:endParaRPr lang="en-US" sz="2050" dirty="0"/>
          </a:p>
        </p:txBody>
      </p:sp>
      <p:sp>
        <p:nvSpPr>
          <p:cNvPr id="20" name="Shape 17"/>
          <p:cNvSpPr/>
          <p:nvPr/>
        </p:nvSpPr>
        <p:spPr>
          <a:xfrm>
            <a:off x="7446645" y="7196953"/>
            <a:ext cx="6263521" cy="8079339"/>
          </a:xfrm>
          <a:prstGeom prst="roundRect">
            <a:avLst>
              <a:gd name="adj" fmla="val 1763"/>
            </a:avLst>
          </a:prstGeom>
          <a:solidFill>
            <a:srgbClr val="DFDDEE"/>
          </a:solidFill>
          <a:ln w="15240">
            <a:solidFill>
              <a:srgbClr val="C5C3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24775" y="7475050"/>
            <a:ext cx="5528667" cy="410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Jour 2 – Atelier de création d'agents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7724775" y="8043625"/>
            <a:ext cx="5707261" cy="840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Identification des cas d'usage internes (génériques, non personnalisés).</a:t>
            </a:r>
            <a:endParaRPr lang="en-US" sz="2050" dirty="0"/>
          </a:p>
        </p:txBody>
      </p:sp>
      <p:sp>
        <p:nvSpPr>
          <p:cNvPr id="23" name="Text 20"/>
          <p:cNvSpPr/>
          <p:nvPr/>
        </p:nvSpPr>
        <p:spPr>
          <a:xfrm>
            <a:off x="7724775" y="8976488"/>
            <a:ext cx="5707261" cy="840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Construction d'agents N2/N3 répondant à ces cas d'usage.</a:t>
            </a:r>
            <a:endParaRPr lang="en-US" sz="2050" dirty="0"/>
          </a:p>
        </p:txBody>
      </p:sp>
      <p:sp>
        <p:nvSpPr>
          <p:cNvPr id="24" name="Text 21"/>
          <p:cNvSpPr/>
          <p:nvPr/>
        </p:nvSpPr>
        <p:spPr>
          <a:xfrm>
            <a:off x="7724775" y="9909351"/>
            <a:ext cx="5707261" cy="840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Tests, ajustements et bonnes pratiques de déploiement interne.</a:t>
            </a:r>
            <a:endParaRPr lang="en-US" sz="2050" dirty="0"/>
          </a:p>
        </p:txBody>
      </p:sp>
      <p:sp>
        <p:nvSpPr>
          <p:cNvPr id="25" name="Text 22"/>
          <p:cNvSpPr/>
          <p:nvPr/>
        </p:nvSpPr>
        <p:spPr>
          <a:xfrm>
            <a:off x="7724775" y="10908049"/>
            <a:ext cx="3771900" cy="410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7752B3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Méthodes pédagogiques</a:t>
            </a:r>
            <a:endParaRPr lang="en-US" sz="2550" dirty="0"/>
          </a:p>
        </p:txBody>
      </p:sp>
      <p:sp>
        <p:nvSpPr>
          <p:cNvPr id="26" name="Text 23"/>
          <p:cNvSpPr/>
          <p:nvPr/>
        </p:nvSpPr>
        <p:spPr>
          <a:xfrm>
            <a:off x="7724775" y="11476624"/>
            <a:ext cx="5707261" cy="420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Démonstrations guidées</a:t>
            </a:r>
            <a:endParaRPr lang="en-US" sz="2050" dirty="0"/>
          </a:p>
        </p:txBody>
      </p:sp>
      <p:sp>
        <p:nvSpPr>
          <p:cNvPr id="27" name="Text 24"/>
          <p:cNvSpPr/>
          <p:nvPr/>
        </p:nvSpPr>
        <p:spPr>
          <a:xfrm>
            <a:off x="7724775" y="11989008"/>
            <a:ext cx="5707261" cy="420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Ateliers pratiques</a:t>
            </a:r>
            <a:endParaRPr lang="en-US" sz="2050" dirty="0"/>
          </a:p>
        </p:txBody>
      </p:sp>
      <p:sp>
        <p:nvSpPr>
          <p:cNvPr id="28" name="Text 25"/>
          <p:cNvSpPr/>
          <p:nvPr/>
        </p:nvSpPr>
        <p:spPr>
          <a:xfrm>
            <a:off x="7724775" y="12501392"/>
            <a:ext cx="5707261" cy="840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Études de cas internes (non personnalisées dans la fiche)</a:t>
            </a:r>
            <a:endParaRPr lang="en-US" sz="2050" dirty="0"/>
          </a:p>
        </p:txBody>
      </p:sp>
      <p:sp>
        <p:nvSpPr>
          <p:cNvPr id="29" name="Text 26"/>
          <p:cNvSpPr/>
          <p:nvPr/>
        </p:nvSpPr>
        <p:spPr>
          <a:xfrm>
            <a:off x="920234" y="15834867"/>
            <a:ext cx="3286720" cy="410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7752B3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Livrables fournis</a:t>
            </a:r>
            <a:endParaRPr lang="en-US" sz="2550" dirty="0"/>
          </a:p>
        </p:txBody>
      </p:sp>
      <p:sp>
        <p:nvSpPr>
          <p:cNvPr id="30" name="Text 27"/>
          <p:cNvSpPr/>
          <p:nvPr/>
        </p:nvSpPr>
        <p:spPr>
          <a:xfrm>
            <a:off x="920234" y="16508562"/>
            <a:ext cx="3835122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6 agents types (N1 → N3)</a:t>
            </a:r>
            <a:endParaRPr lang="en-US" sz="2050" dirty="0"/>
          </a:p>
        </p:txBody>
      </p:sp>
      <p:sp>
        <p:nvSpPr>
          <p:cNvPr id="31" name="Text 28"/>
          <p:cNvSpPr/>
          <p:nvPr/>
        </p:nvSpPr>
        <p:spPr>
          <a:xfrm>
            <a:off x="920234" y="16937017"/>
            <a:ext cx="3835122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Modèle de structure d'agent</a:t>
            </a:r>
            <a:endParaRPr lang="en-US" sz="2050" dirty="0"/>
          </a:p>
        </p:txBody>
      </p:sp>
      <p:sp>
        <p:nvSpPr>
          <p:cNvPr id="32" name="Text 29"/>
          <p:cNvSpPr/>
          <p:nvPr/>
        </p:nvSpPr>
        <p:spPr>
          <a:xfrm>
            <a:off x="920234" y="17365472"/>
            <a:ext cx="3835122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Guide synthétique des bonnes pratiques</a:t>
            </a:r>
            <a:endParaRPr lang="en-US" sz="2050" dirty="0"/>
          </a:p>
        </p:txBody>
      </p:sp>
      <p:sp>
        <p:nvSpPr>
          <p:cNvPr id="33" name="Text 30"/>
          <p:cNvSpPr/>
          <p:nvPr/>
        </p:nvSpPr>
        <p:spPr>
          <a:xfrm>
            <a:off x="5404485" y="15834867"/>
            <a:ext cx="3286720" cy="410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7752B3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Durée &amp; format</a:t>
            </a:r>
            <a:endParaRPr lang="en-US" sz="2550" dirty="0"/>
          </a:p>
        </p:txBody>
      </p:sp>
      <p:sp>
        <p:nvSpPr>
          <p:cNvPr id="34" name="Text 31"/>
          <p:cNvSpPr/>
          <p:nvPr/>
        </p:nvSpPr>
        <p:spPr>
          <a:xfrm>
            <a:off x="5404485" y="16508562"/>
            <a:ext cx="3836432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2 jours (14 h)</a:t>
            </a:r>
            <a:endParaRPr lang="en-US" sz="2050" dirty="0"/>
          </a:p>
        </p:txBody>
      </p:sp>
      <p:sp>
        <p:nvSpPr>
          <p:cNvPr id="35" name="Text 32"/>
          <p:cNvSpPr/>
          <p:nvPr/>
        </p:nvSpPr>
        <p:spPr>
          <a:xfrm>
            <a:off x="5404485" y="16937017"/>
            <a:ext cx="3836432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Présentiel ou distanciel</a:t>
            </a:r>
            <a:endParaRPr lang="en-US" sz="2050" dirty="0"/>
          </a:p>
        </p:txBody>
      </p:sp>
      <p:sp>
        <p:nvSpPr>
          <p:cNvPr id="36" name="Text 33"/>
          <p:cNvSpPr/>
          <p:nvPr/>
        </p:nvSpPr>
        <p:spPr>
          <a:xfrm>
            <a:off x="5404485" y="17365472"/>
            <a:ext cx="3836432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Groupe : 8–12 personnes</a:t>
            </a:r>
            <a:endParaRPr lang="en-US" sz="2050" dirty="0"/>
          </a:p>
        </p:txBody>
      </p:sp>
      <p:sp>
        <p:nvSpPr>
          <p:cNvPr id="37" name="Text 34"/>
          <p:cNvSpPr/>
          <p:nvPr/>
        </p:nvSpPr>
        <p:spPr>
          <a:xfrm>
            <a:off x="9890046" y="15834867"/>
            <a:ext cx="3771900" cy="410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7752B3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Méthodes pédagogiques</a:t>
            </a:r>
            <a:endParaRPr lang="en-US" sz="2550" dirty="0"/>
          </a:p>
        </p:txBody>
      </p:sp>
      <p:sp>
        <p:nvSpPr>
          <p:cNvPr id="38" name="Text 35"/>
          <p:cNvSpPr/>
          <p:nvPr/>
        </p:nvSpPr>
        <p:spPr>
          <a:xfrm>
            <a:off x="9890046" y="16508562"/>
            <a:ext cx="3835122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Démonstrations guidées</a:t>
            </a:r>
            <a:endParaRPr lang="en-US" sz="2050" dirty="0"/>
          </a:p>
        </p:txBody>
      </p:sp>
      <p:sp>
        <p:nvSpPr>
          <p:cNvPr id="39" name="Text 36"/>
          <p:cNvSpPr/>
          <p:nvPr/>
        </p:nvSpPr>
        <p:spPr>
          <a:xfrm>
            <a:off x="9890046" y="16937017"/>
            <a:ext cx="3835122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Ateliers pratiques</a:t>
            </a:r>
            <a:endParaRPr lang="en-US" sz="2050" dirty="0"/>
          </a:p>
        </p:txBody>
      </p:sp>
      <p:sp>
        <p:nvSpPr>
          <p:cNvPr id="40" name="Text 37"/>
          <p:cNvSpPr/>
          <p:nvPr/>
        </p:nvSpPr>
        <p:spPr>
          <a:xfrm>
            <a:off x="9890046" y="17365472"/>
            <a:ext cx="3835122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300"/>
              </a:lnSpc>
              <a:buSzPct val="100000"/>
              <a:buChar char="•"/>
            </a:pPr>
            <a:r>
              <a:rPr lang="en-US" sz="2050" b="1" dirty="0">
                <a:solidFill>
                  <a:srgbClr val="431F66"/>
                </a:solidFill>
                <a:latin typeface="Saira Bold" pitchFamily="34" charset="0"/>
                <a:ea typeface="Saira Bold" pitchFamily="34" charset="-122"/>
                <a:cs typeface="Saira Bold" pitchFamily="34" charset="-120"/>
              </a:rPr>
              <a:t>Études de cas internes </a:t>
            </a:r>
            <a:endParaRPr lang="en-US" sz="2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2025-11-28T14:58:13Z</dcterms:created>
  <dcterms:modified xsi:type="dcterms:W3CDTF">2025-11-28T14:58:13Z</dcterms:modified>
</cp:coreProperties>
</file>